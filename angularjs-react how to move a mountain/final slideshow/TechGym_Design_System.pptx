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- 🔒 _"היום אני אראה לכם איך אנחנו מעבירים מוצר גדול מפריימורק מת — בלי לכתוב אותו מחדש."_ → straight to S1.
    - _(EN, meaning-check: today I'll show you how you move a large product off a dead framework — without rewriting it.)_
  - _Cue:_ don't read the title — it's on the slide. One line, ~10s, memorize only this, then go to the code. Not an agenda; "5 years / still shipping" pays off at S1/S23, don't front-load.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🔒 ככה נראה הקוד שלנו באנגולר — קונטרולרים ענקיים, כמעט לא מפורקים לקומפוננטות, הרבה כפילויות. 391 קומפוננטות להגר. התחלנו להעביר את זה לריאקט לפני חמש שנים. זה עדיין לא נגמר
- _Cue:_ 391 = stakes, not a metric · let "no ending"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🔒 יש שאלה ישנה — אם מחליפים את כל הקרשים של ספינה, אחד אחד, האם זו עדיין אותה ספינה? זאת בדיוק השאלה ששאלתי על האפליקציה שלנו: איך בונים אותה מחדש בפריימוורק חדש — בלי לשנות אותה?
- _Cue:_ never say "Ship of Theseus" · ask, then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🔒 שמי חיים, אני מפתח בפורטיינר מאז 2018 — פלטפורמה לניהול קונטיינרים.
- **Speak** (flat, own lines): 3–4 devs then · ~10–15 now · "led it largely on my own" · "never the priority"
- _Cue:_ slow, flat · "never the priority" pays off at S24.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Someone who was/is in this situation? Who had an old legacy code and wanted to migrate from it?
- 🔒 אז רציתי לספר לכם שזה אפשרי.
  - _Cue:_ to the room, then stop.
  - **→ Bridge → Bit 2 (say live):** _"לא עברנו בגלל הבלגן בקוד — לקוד מבולגן עושים ריפקטור. אז למה כן עברנו?"_ → S5.
    - _(EN, meaning-check: we didn't move because of the messy code — messy code you refactor. so why did we move?)_
    - _Cue:_ pose the question, don't answer it — S5 is the payoff.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🔒 seam from Bit 1: _"וזה לא נגמר בבלגן"_ (it wasn't only the mess)
- hiring = the real trigger: no dev wants to start on a dead framework (CEO arg, S6)
- EOL = a known deadline since 2018, not a surprise — we prepared, didn't react
- _Dates (say cleanly — take-3 garbled these):_ known/announced **since 2018**, actual **EOL Dec 2021**. Don't flip them.
- refactor we'd do anyway → migration legitimized it
- _Cue:_ escalation off Bit 1 — not a restart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leadership layer: "can't hire" for AngularJS
- _human beat (don't flatten to process):_ a real conversation with the CEO — made the hiring argument in **his** language, not ours. how the conversation went? why change something that is working? This is the warm note of the bit; take-3 dissolved it into "talks → green light."
- team layer: ecosystem · familiarity · ownership
- _Cue:_ land "decided together, not top-down"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reqs: keep shipping · don't freeze dev · don't fragment state/nav
- rewrite (as a separate team's parallel build) → freezes delivery / forces double-dev in AngularJS · micro-frontends → fragments state/nav · incremental → meets all
- _Cue:_ strike each → name what it fails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r2a = simplest fit · new features in React from day one
- the snippet shows the whole deal: _"I just need the component and its props"_ (take line — say it off the code)
- one-way flow: React runs inside Angular → kills most dual-maintenance
- _Cue:_ two blocks only, no API tour · don't open the pain yet (→ Bit 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migration = cover for improvements that couldn't justify themselves alone
- TS + Tailwind, merged in the first PRs
- grace note: I argued against TypeScript; we did it anyway; far easier now
- _Cue:_ "I was against it" — aside, don't sell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- users don't know it's React, don't know it's Angular — **they don't need to know. Same app to them.**
  - **warm close (the payoff of the Bit 2 decisions — first merge):** another dev built on our React components → it felt real, the decisions paid off. _(Bit 2 ends up/warm.)_
  - a decision, not a regret
  - behavior-preserving, still a full refactor — not a translation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- analogy: engine swap mid-sail · PO wants a new deck
  - **ask:** _"so — what's it like to live like this?"_
  - _Cue:_ once · no pause → S12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no children prop → ng-transclude keeps Angular alive
- snippet = the structural divergence
- _Cue:_ let the code carry it, don't narrate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- 2-way + 1-way coexist = the cognitive cost
- the wrapper is the symptom
- digest cycle
- _Cue:_ name the cost, don't teach the API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key reframe — line is on the slide
- _Cue:_ say as fact, not complaint — let it sit
- **→ Bridge to Bit 4 (improvised):** _silence first — let S14 land._ Then: if it's the state for years, the question isn't *whether* to migrate but *how* — well, again and again → S15.
- _Cue:_ question only — don't pre-state "find the patterns"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method that drove the migration
- find duplicated patterns → a component for each
- _Cue:_ general method — NOT one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table = worked example; screenshot shows the scope
- patterns → pick TanStack (headless, we own markup) → design API
- _Cue:_ say "TanStack" aloud → pressure into S17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primitives only → copy-paste default = S15 pain, in React
- ship `Datatable` · keep primitives · `ExpandableTable`
- _Cue:_ callback to S15 aloud — refactor ≠ translate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for years: decompose → refactor gaps → small PRs
- Copilot later: line-level only; decisions stayed human
- _Cue:_ enact "migration ≠ translation" — don't assert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came back, wanted to resume
- vibe-coded a little dashboard to see where things stood — just a tool
- leaned back into AI → asked it for more ← the turn, sets up the fall
- _Cue:_ end on the AI turn → straight into S20, don't drop the thread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warm setup: rusty — said it casual: "convert the stacks page to react"
- point at the PR: this came back — 74 files (nobody reviews 74 files properly)
- quote (spoken, not on slide): "anything's possible — just send one more message"
- why it felt fine — stay in the experience, don't name the moral
- _Cue:_ the gap (one sentence → 74 files) is self-evident — don't moralize; bottom-up payoff is S22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looked done · bugs · paused (~2mo ago, now resumed)
- every bug blamed on the migration → the _fear_ paused it
- boundary: often it genuinely _was_ the migration
- _Cue:_ state, don't dramatize — no victim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carry the stall in — stuck, a bit scared, project paused
- the way out wasn't new: back to the fundamentals I already knew
- ask AI for a plan → tasks → plan each → small units, one layer up
- e2e tests = the safety net — behavior preserved (same surface), catches the "looked done" bugs
- the fall's flip side: AI amplifies wherever you point it (whole page = the monster diff; small units = clean) — mirror of S18
- land it: today, I can plan anything with it
- _Cue:_ recovery, not a lecture — "moving again," not "conquered AI"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- about half is done
  - _Cue:_ proof of Bit 1's "no ending" — say little, let it sit
- **→ Bridge to Bit 5 — three beats:**
  1. _let the ~50% sit_ — silence first
  2. 🔒 **the takeaway** — eyes up, to the room. Two breaths:
     &gt; אתם לא תקועים עם קוד ישן. אפשר להעביר אותו — גם אם זה לוקח שנים.
  3. **forward pivot** → first-person: half the road's still ahead · less about the path behind → S24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split is agency, not regret
- "do differently" is real — already restarted bottom-up this way
- stolen-time weight: 2–3 people, spare time, for years — say it flat and slow
- VP more involved: once, modest — NOT a win
- _Cue:_ let the structure carry it; don't say "in/out of my control"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🔒 SAY (verbatim) — the last words of the talk:
&gt; שאלנו אם זו עדיין אותה ספינה. היום היא חצי ישנה, חצי חדשה — עדיין שטה, עדיין נבנית.
&gt;
&gt; תודה. שאלות?
- _Cue:_ wordless card; say the line, then stop
- **Q&amp;A — anchors to think about, not scripts** (answer live; this is just the map. Card stays up through Q&amp;A):
  - _why migrate?_ → hiring was the real trigger (no dev wants to start on a dead framework) · EOL Dec 2021 · refactor we'd do anyway (S5). Lead with hiring, not EOL.
  - _how long / how far?_ → 5 years, ~50%. Say it flat — a multi-year campaign, not a sprint (the takeaway). Don't apologize for the pace.
  - _how many did you have to convince?_ → the CEO (made the hiring case in his language) + the frontend team (decided together, S6). Not top-down.
  - _why so slow?_ → indifference, not resistance — never the priority, "even one screen per release doesn't really happen." **Answer flat, not as grievance** (the no-victim line) — this is the trap question.
  - _would you move to React today?_ → yes, **but** — and the "but" is S24. The "yes" is one sentence.
  - _a moment that stuck / what made it worth it?_ → the first merge: another dev built on our React components → it felt real (S11).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36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338138"/>
            <a:ext cx="8279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0AE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00100" y="1444377"/>
            <a:ext cx="4238244" cy="1320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950" b="1" spc="-14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AngularJS </a:t>
            </a:r>
            <a:pPr algn="l" indent="0" marL="0">
              <a:lnSpc>
                <a:spcPct val="102000"/>
              </a:lnSpc>
              <a:buNone/>
            </a:pPr>
            <a:r>
              <a:rPr lang="en-US" sz="4950" b="1" spc="-148" kern="0" dirty="0">
                <a:solidFill>
                  <a:srgbClr val="0AE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React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800100" y="2898130"/>
            <a:ext cx="4238244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25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Move a Mountain Incrementally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085850" y="3718173"/>
            <a:ext cx="24412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Chaim Lev-Ari · Portainer.io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5391150" y="828675"/>
            <a:ext cx="2857500" cy="3486150"/>
          </a:xfrm>
          <a:prstGeom prst="roundRect">
            <a:avLst>
              <a:gd name="adj" fmla="val 533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514350" dist="190500" dir="5400000">
              <a:srgbClr val="000000">
                <a:alpha val="42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84723" y="609600"/>
            <a:ext cx="3574554" cy="3695700"/>
          </a:xfrm>
          <a:prstGeom prst="roundRect">
            <a:avLst>
              <a:gd name="adj" fmla="val 2665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00100" y="3490020"/>
            <a:ext cx="2137172" cy="662880"/>
          </a:xfrm>
          <a:prstGeom prst="roundRect">
            <a:avLst>
              <a:gd name="adj" fmla="val 17243"/>
            </a:avLst>
          </a:prstGeom>
          <a:solidFill>
            <a:srgbClr val="293657"/>
          </a:solidFill>
          <a:ln/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8700" y="3632895"/>
            <a:ext cx="73774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00" b="1" spc="-99" kern="0" dirty="0">
                <a:solidFill>
                  <a:srgbClr val="0AE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391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842641" y="3726210"/>
            <a:ext cx="9422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36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36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1826419"/>
            <a:ext cx="7770114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Chaim Lev-Ari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00100" y="3102769"/>
            <a:ext cx="829818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45" kern="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developer · Portainer.io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84723" y="609600"/>
            <a:ext cx="3574554" cy="3695700"/>
          </a:xfrm>
          <a:prstGeom prst="roundRect">
            <a:avLst>
              <a:gd name="adj" fmla="val 2665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650" y="323850"/>
            <a:ext cx="32043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5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had to change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650" y="323850"/>
            <a:ext cx="29409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5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was decided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33400" y="2260848"/>
            <a:ext cx="2438400" cy="1212354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9050" dist="9525" dir="5400000">
              <a:srgbClr val="293657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2463" y="2518023"/>
            <a:ext cx="22002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83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01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714375" y="2756148"/>
            <a:ext cx="2076450" cy="497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spc="-16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discussions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650" y="323850"/>
            <a:ext cx="17833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5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options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33400" y="1352550"/>
            <a:ext cx="6858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1525" y="1552575"/>
            <a:ext cx="70199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from zero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3400" y="2152650"/>
            <a:ext cx="6858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1525" y="2352675"/>
            <a:ext cx="70199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Micro-frontends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3400" y="2952750"/>
            <a:ext cx="6858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1525" y="3152775"/>
            <a:ext cx="70199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incrementally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36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3033" y="340519"/>
            <a:ext cx="54085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54" kern="0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WITH A PLAIN REACT COMPONENT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103983" y="559594"/>
            <a:ext cx="4935885" cy="1266825"/>
          </a:xfrm>
          <a:prstGeom prst="roundRect">
            <a:avLst>
              <a:gd name="adj" fmla="val 7519"/>
            </a:avLst>
          </a:prstGeom>
          <a:solidFill>
            <a:srgbClr val="1C2740"/>
          </a:solidFill>
          <a:ln w="9525">
            <a:solidFill>
              <a:srgbClr val="34436A"/>
            </a:solidFill>
            <a:prstDash val="solid"/>
          </a:ln>
          <a:effectLst>
            <a:outerShdw sx="100000" sy="100000" kx="0" ky="0" algn="bl" rotWithShape="0" blurRad="285750" dist="9525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113508" y="569119"/>
            <a:ext cx="4916835" cy="3048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13508" y="864394"/>
            <a:ext cx="4916835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246858" y="669131"/>
            <a:ext cx="95250" cy="9525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7" name="Shape 5"/>
          <p:cNvSpPr/>
          <p:nvPr/>
        </p:nvSpPr>
        <p:spPr>
          <a:xfrm>
            <a:off x="2408783" y="669131"/>
            <a:ext cx="95250" cy="95250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8" name="Shape 6"/>
          <p:cNvSpPr/>
          <p:nvPr/>
        </p:nvSpPr>
        <p:spPr>
          <a:xfrm>
            <a:off x="2570708" y="669131"/>
            <a:ext cx="95250" cy="95250"/>
          </a:xfrm>
          <a:prstGeom prst="ellipse">
            <a:avLst/>
          </a:prstGeom>
          <a:solidFill>
            <a:srgbClr val="0AE581"/>
          </a:solidFill>
          <a:ln/>
        </p:spPr>
      </p:sp>
      <p:sp>
        <p:nvSpPr>
          <p:cNvPr id="9" name="Text 7"/>
          <p:cNvSpPr/>
          <p:nvPr/>
        </p:nvSpPr>
        <p:spPr>
          <a:xfrm>
            <a:off x="2808833" y="645319"/>
            <a:ext cx="7335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Button.tsx</a:t>
            </a:r>
            <a:endParaRPr lang="en-US" sz="863" dirty="0"/>
          </a:p>
        </p:txBody>
      </p:sp>
      <p:sp>
        <p:nvSpPr>
          <p:cNvPr id="10" name="Text 8"/>
          <p:cNvSpPr/>
          <p:nvPr/>
        </p:nvSpPr>
        <p:spPr>
          <a:xfrm>
            <a:off x="2284958" y="988219"/>
            <a:ext cx="4721440" cy="7524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6B7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 ordinary React component 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label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onClick }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Props) {</a:t>
            </a:r>
            <a:endParaRPr lang="en-US" sz="938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938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}&gt;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{label}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 </a:t>
            </a:r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36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51297" y="1989832"/>
            <a:ext cx="304125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spc="-45" kern="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we were in there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814289" y="2570857"/>
            <a:ext cx="5515421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500" b="1" spc="-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</a:t>
            </a:r>
            <a:pPr algn="ctr" indent="0" marL="0">
              <a:lnSpc>
                <a:spcPct val="102000"/>
              </a:lnSpc>
              <a:buNone/>
            </a:pPr>
            <a:r>
              <a:rPr lang="en-US" sz="4500" b="1" spc="-135" kern="0" dirty="0">
                <a:solidFill>
                  <a:srgbClr val="0AE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lnSpc>
                <a:spcPct val="102000"/>
              </a:lnSpc>
              <a:buNone/>
            </a:pPr>
            <a:r>
              <a:rPr lang="en-US" sz="4500" b="1" spc="-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7905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84169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spc="72" kern="0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36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2197" y="2033439"/>
            <a:ext cx="2919457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50" b="1" spc="-10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surface.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2605839" y="2619375"/>
            <a:ext cx="3932173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50" b="1" spc="-103" kern="0" dirty="0">
                <a:solidFill>
                  <a:srgbClr val="0AE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Rebuilt underneath.</a:t>
            </a:r>
            <a:endParaRPr lang="en-US" sz="3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650" y="323850"/>
            <a:ext cx="56585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5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versions of the same component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52450" y="1521321"/>
            <a:ext cx="39483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54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ANGULARJS · NG-TRANSCLUDE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3400" y="1788021"/>
            <a:ext cx="3608487" cy="2253258"/>
          </a:xfrm>
          <a:prstGeom prst="roundRect">
            <a:avLst>
              <a:gd name="adj" fmla="val 4227"/>
            </a:avLst>
          </a:prstGeom>
          <a:solidFill>
            <a:srgbClr val="1C2740"/>
          </a:solidFill>
          <a:ln w="9525">
            <a:solidFill>
              <a:srgbClr val="34436A"/>
            </a:solidFill>
            <a:prstDash val="solid"/>
          </a:ln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2925" y="1797546"/>
            <a:ext cx="3589437" cy="3619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2925" y="2149971"/>
            <a:ext cx="3589437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926134"/>
            <a:ext cx="95250" cy="9525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8" name="Shape 6"/>
          <p:cNvSpPr/>
          <p:nvPr/>
        </p:nvSpPr>
        <p:spPr>
          <a:xfrm>
            <a:off x="847725" y="1926134"/>
            <a:ext cx="95250" cy="95250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9" name="Shape 7"/>
          <p:cNvSpPr/>
          <p:nvPr/>
        </p:nvSpPr>
        <p:spPr>
          <a:xfrm>
            <a:off x="1009650" y="1926134"/>
            <a:ext cx="95250" cy="95250"/>
          </a:xfrm>
          <a:prstGeom prst="ellipse">
            <a:avLst/>
          </a:prstGeom>
          <a:solidFill>
            <a:srgbClr val="0AE581"/>
          </a:solidFill>
          <a:ln/>
        </p:spPr>
      </p:sp>
      <p:sp>
        <p:nvSpPr>
          <p:cNvPr id="10" name="Text 8"/>
          <p:cNvSpPr/>
          <p:nvPr/>
        </p:nvSpPr>
        <p:spPr>
          <a:xfrm>
            <a:off x="1247775" y="1902321"/>
            <a:ext cx="15907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rd-widget.directive.ts</a:t>
            </a:r>
            <a:endParaRPr lang="en-US" sz="863" dirty="0"/>
          </a:p>
        </p:txBody>
      </p:sp>
      <p:sp>
        <p:nvSpPr>
          <p:cNvPr id="11" name="Text 9"/>
          <p:cNvSpPr/>
          <p:nvPr/>
        </p:nvSpPr>
        <p:spPr>
          <a:xfrm>
            <a:off x="733425" y="2330946"/>
            <a:ext cx="3316120" cy="156745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directive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'rdWidget'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({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transclude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class="widget"&gt;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&lt;ng-transclude&gt;&lt;/ng-transclude&gt;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&lt;/div&gt;` 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4370487" y="1521321"/>
            <a:ext cx="46641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54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VIA R2A · CHILDREN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51437" y="1788021"/>
            <a:ext cx="4259163" cy="1379339"/>
          </a:xfrm>
          <a:prstGeom prst="roundRect">
            <a:avLst>
              <a:gd name="adj" fmla="val 6905"/>
            </a:avLst>
          </a:prstGeom>
          <a:solidFill>
            <a:srgbClr val="1C2740"/>
          </a:solidFill>
          <a:ln w="9525">
            <a:solidFill>
              <a:srgbClr val="34436A"/>
            </a:solidFill>
            <a:prstDash val="solid"/>
          </a:ln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0962" y="1797546"/>
            <a:ext cx="4240113" cy="3619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60962" y="2149971"/>
            <a:ext cx="4240113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03837" y="1926134"/>
            <a:ext cx="95250" cy="9525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5762" y="1926134"/>
            <a:ext cx="95250" cy="95250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8" name="Shape 16"/>
          <p:cNvSpPr/>
          <p:nvPr/>
        </p:nvSpPr>
        <p:spPr>
          <a:xfrm>
            <a:off x="4827687" y="1926134"/>
            <a:ext cx="95250" cy="95250"/>
          </a:xfrm>
          <a:prstGeom prst="ellipse">
            <a:avLst/>
          </a:prstGeom>
          <a:solidFill>
            <a:srgbClr val="0AE581"/>
          </a:solidFill>
          <a:ln/>
        </p:spPr>
      </p:sp>
      <p:sp>
        <p:nvSpPr>
          <p:cNvPr id="19" name="Text 17"/>
          <p:cNvSpPr/>
          <p:nvPr/>
        </p:nvSpPr>
        <p:spPr>
          <a:xfrm>
            <a:off x="5065812" y="1902321"/>
            <a:ext cx="7335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Widget.tsx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4551462" y="2330946"/>
            <a:ext cx="3986317" cy="69353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children }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Props) {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"widget"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{children}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36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650" y="323850"/>
            <a:ext cx="37966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models in your head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33400" y="1976289"/>
            <a:ext cx="3914775" cy="1705124"/>
          </a:xfrm>
          <a:prstGeom prst="roundRect">
            <a:avLst>
              <a:gd name="adj" fmla="val 6703"/>
            </a:avLst>
          </a:prstGeom>
          <a:solidFill>
            <a:srgbClr val="1C2740"/>
          </a:solidFill>
          <a:ln w="9525">
            <a:solidFill>
              <a:srgbClr val="3443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625" y="2271564"/>
            <a:ext cx="36985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ANGULARJS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9625" y="2557314"/>
            <a:ext cx="369855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</a:t>
            </a:r>
            <a:pPr algn="l" indent="0" marL="0">
              <a:buNone/>
            </a:pPr>
            <a:r>
              <a:rPr lang="en-US" sz="3000" b="1" spc="-30" kern="0" dirty="0">
                <a:solidFill>
                  <a:srgbClr val="0AE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⇆ </a:t>
            </a:r>
            <a:pPr algn="l" indent="0" marL="0">
              <a:buNone/>
            </a:pPr>
            <a:r>
              <a:rPr lang="en-US" sz="30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9625" y="3185964"/>
            <a:ext cx="3698558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 binding.</a:t>
            </a:r>
            <a:endParaRPr lang="en-US" sz="1088" dirty="0"/>
          </a:p>
        </p:txBody>
      </p:sp>
      <p:sp>
        <p:nvSpPr>
          <p:cNvPr id="7" name="Shape 5"/>
          <p:cNvSpPr/>
          <p:nvPr/>
        </p:nvSpPr>
        <p:spPr>
          <a:xfrm>
            <a:off x="4695825" y="1976289"/>
            <a:ext cx="3914775" cy="1705124"/>
          </a:xfrm>
          <a:prstGeom prst="roundRect">
            <a:avLst>
              <a:gd name="adj" fmla="val 6703"/>
            </a:avLst>
          </a:prstGeom>
          <a:solidFill>
            <a:srgbClr val="293657"/>
          </a:solidFill>
          <a:ln w="9525">
            <a:solidFill>
              <a:srgbClr val="3443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72050" y="2271564"/>
            <a:ext cx="36985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72050" y="2557314"/>
            <a:ext cx="369855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</a:t>
            </a:r>
            <a:pPr algn="l" indent="0" marL="0">
              <a:buNone/>
            </a:pPr>
            <a:r>
              <a:rPr lang="en-US" sz="3000" b="1" spc="-30" kern="0" dirty="0">
                <a:solidFill>
                  <a:srgbClr val="0AE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30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972050" y="3043089"/>
            <a:ext cx="3698558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flow.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36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1554" y="1740396"/>
            <a:ext cx="5820742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50" b="1" spc="-10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transition phase.</a:t>
            </a:r>
            <a:endParaRPr lang="en-US" sz="3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650" y="323850"/>
            <a:ext cx="146766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5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33400" y="1123950"/>
            <a:ext cx="3952875" cy="2876550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57725" y="1123950"/>
            <a:ext cx="3952875" cy="2876550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1325910"/>
            <a:ext cx="6057900" cy="2186732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743700" y="1304925"/>
            <a:ext cx="18669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293657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743700" y="1638300"/>
            <a:ext cx="1866900" cy="9525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5" name="Shape 3"/>
          <p:cNvSpPr/>
          <p:nvPr/>
        </p:nvSpPr>
        <p:spPr>
          <a:xfrm>
            <a:off x="6743700" y="1304925"/>
            <a:ext cx="1866900" cy="9525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6" name="Shape 4"/>
          <p:cNvSpPr/>
          <p:nvPr/>
        </p:nvSpPr>
        <p:spPr>
          <a:xfrm>
            <a:off x="6743700" y="1304925"/>
            <a:ext cx="28575" cy="342900"/>
          </a:xfrm>
          <a:prstGeom prst="rect">
            <a:avLst/>
          </a:prstGeom>
          <a:solidFill>
            <a:srgbClr val="0AE581"/>
          </a:solidFill>
          <a:ln/>
        </p:spPr>
      </p:sp>
      <p:sp>
        <p:nvSpPr>
          <p:cNvPr id="7" name="Shape 5"/>
          <p:cNvSpPr/>
          <p:nvPr/>
        </p:nvSpPr>
        <p:spPr>
          <a:xfrm>
            <a:off x="8601075" y="1304925"/>
            <a:ext cx="9525" cy="34290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8" name="Text 6"/>
          <p:cNvSpPr/>
          <p:nvPr/>
        </p:nvSpPr>
        <p:spPr>
          <a:xfrm>
            <a:off x="6886575" y="1400175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7" kern="0" dirty="0">
                <a:solidFill>
                  <a:srgbClr val="293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toggle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743700" y="1743075"/>
            <a:ext cx="18669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293657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43700" y="2076450"/>
            <a:ext cx="1866900" cy="9525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11" name="Shape 9"/>
          <p:cNvSpPr/>
          <p:nvPr/>
        </p:nvSpPr>
        <p:spPr>
          <a:xfrm>
            <a:off x="6743700" y="1743075"/>
            <a:ext cx="1866900" cy="9525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12" name="Shape 10"/>
          <p:cNvSpPr/>
          <p:nvPr/>
        </p:nvSpPr>
        <p:spPr>
          <a:xfrm>
            <a:off x="6743700" y="1743075"/>
            <a:ext cx="28575" cy="342900"/>
          </a:xfrm>
          <a:prstGeom prst="rect">
            <a:avLst/>
          </a:prstGeom>
          <a:solidFill>
            <a:srgbClr val="0AE581"/>
          </a:solidFill>
          <a:ln/>
        </p:spPr>
      </p:sp>
      <p:sp>
        <p:nvSpPr>
          <p:cNvPr id="13" name="Shape 11"/>
          <p:cNvSpPr/>
          <p:nvPr/>
        </p:nvSpPr>
        <p:spPr>
          <a:xfrm>
            <a:off x="8601075" y="1743075"/>
            <a:ext cx="9525" cy="34290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14" name="Text 12"/>
          <p:cNvSpPr/>
          <p:nvPr/>
        </p:nvSpPr>
        <p:spPr>
          <a:xfrm>
            <a:off x="6886575" y="1838325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7" kern="0" dirty="0">
                <a:solidFill>
                  <a:srgbClr val="293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43700" y="2181225"/>
            <a:ext cx="18669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293657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43700" y="2514600"/>
            <a:ext cx="1866900" cy="9525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17" name="Shape 15"/>
          <p:cNvSpPr/>
          <p:nvPr/>
        </p:nvSpPr>
        <p:spPr>
          <a:xfrm>
            <a:off x="6743700" y="2181225"/>
            <a:ext cx="1866900" cy="9525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18" name="Shape 16"/>
          <p:cNvSpPr/>
          <p:nvPr/>
        </p:nvSpPr>
        <p:spPr>
          <a:xfrm>
            <a:off x="6743700" y="2181225"/>
            <a:ext cx="28575" cy="342900"/>
          </a:xfrm>
          <a:prstGeom prst="rect">
            <a:avLst/>
          </a:prstGeom>
          <a:solidFill>
            <a:srgbClr val="0AE581"/>
          </a:solidFill>
          <a:ln/>
        </p:spPr>
      </p:sp>
      <p:sp>
        <p:nvSpPr>
          <p:cNvPr id="19" name="Shape 17"/>
          <p:cNvSpPr/>
          <p:nvPr/>
        </p:nvSpPr>
        <p:spPr>
          <a:xfrm>
            <a:off x="8601075" y="2181225"/>
            <a:ext cx="9525" cy="34290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20" name="Text 18"/>
          <p:cNvSpPr/>
          <p:nvPr/>
        </p:nvSpPr>
        <p:spPr>
          <a:xfrm>
            <a:off x="6886575" y="2276475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7" kern="0" dirty="0">
                <a:solidFill>
                  <a:srgbClr val="293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3700" y="2619375"/>
            <a:ext cx="18669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293657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43700" y="2952750"/>
            <a:ext cx="1866900" cy="9525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23" name="Shape 21"/>
          <p:cNvSpPr/>
          <p:nvPr/>
        </p:nvSpPr>
        <p:spPr>
          <a:xfrm>
            <a:off x="6743700" y="2619375"/>
            <a:ext cx="1866900" cy="9525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24" name="Shape 22"/>
          <p:cNvSpPr/>
          <p:nvPr/>
        </p:nvSpPr>
        <p:spPr>
          <a:xfrm>
            <a:off x="6743700" y="2619375"/>
            <a:ext cx="28575" cy="342900"/>
          </a:xfrm>
          <a:prstGeom prst="rect">
            <a:avLst/>
          </a:prstGeom>
          <a:solidFill>
            <a:srgbClr val="0AE581"/>
          </a:solidFill>
          <a:ln/>
        </p:spPr>
      </p:sp>
      <p:sp>
        <p:nvSpPr>
          <p:cNvPr id="25" name="Shape 23"/>
          <p:cNvSpPr/>
          <p:nvPr/>
        </p:nvSpPr>
        <p:spPr>
          <a:xfrm>
            <a:off x="8601075" y="2619375"/>
            <a:ext cx="9525" cy="34290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26" name="Text 24"/>
          <p:cNvSpPr/>
          <p:nvPr/>
        </p:nvSpPr>
        <p:spPr>
          <a:xfrm>
            <a:off x="6886575" y="2714625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7" kern="0" dirty="0">
                <a:solidFill>
                  <a:srgbClr val="293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43700" y="3057525"/>
            <a:ext cx="18669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293657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43700" y="3390900"/>
            <a:ext cx="1866900" cy="9525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29" name="Shape 27"/>
          <p:cNvSpPr/>
          <p:nvPr/>
        </p:nvSpPr>
        <p:spPr>
          <a:xfrm>
            <a:off x="6743700" y="3057525"/>
            <a:ext cx="1866900" cy="9525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30" name="Shape 28"/>
          <p:cNvSpPr/>
          <p:nvPr/>
        </p:nvSpPr>
        <p:spPr>
          <a:xfrm>
            <a:off x="6743700" y="3057525"/>
            <a:ext cx="28575" cy="342900"/>
          </a:xfrm>
          <a:prstGeom prst="rect">
            <a:avLst/>
          </a:prstGeom>
          <a:solidFill>
            <a:srgbClr val="0AE581"/>
          </a:solidFill>
          <a:ln/>
        </p:spPr>
      </p:sp>
      <p:sp>
        <p:nvSpPr>
          <p:cNvPr id="31" name="Shape 29"/>
          <p:cNvSpPr/>
          <p:nvPr/>
        </p:nvSpPr>
        <p:spPr>
          <a:xfrm>
            <a:off x="8601075" y="3057525"/>
            <a:ext cx="9525" cy="34290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32" name="Text 30"/>
          <p:cNvSpPr/>
          <p:nvPr/>
        </p:nvSpPr>
        <p:spPr>
          <a:xfrm>
            <a:off x="6886575" y="3152775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7" kern="0" dirty="0">
                <a:solidFill>
                  <a:srgbClr val="293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row-select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43700" y="3495675"/>
            <a:ext cx="18669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293657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43700" y="3829050"/>
            <a:ext cx="1866900" cy="9525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35" name="Shape 33"/>
          <p:cNvSpPr/>
          <p:nvPr/>
        </p:nvSpPr>
        <p:spPr>
          <a:xfrm>
            <a:off x="6743700" y="3495675"/>
            <a:ext cx="1866900" cy="9525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36" name="Shape 34"/>
          <p:cNvSpPr/>
          <p:nvPr/>
        </p:nvSpPr>
        <p:spPr>
          <a:xfrm>
            <a:off x="6743700" y="3495675"/>
            <a:ext cx="28575" cy="342900"/>
          </a:xfrm>
          <a:prstGeom prst="rect">
            <a:avLst/>
          </a:prstGeom>
          <a:solidFill>
            <a:srgbClr val="0AE581"/>
          </a:solidFill>
          <a:ln/>
        </p:spPr>
      </p:sp>
      <p:sp>
        <p:nvSpPr>
          <p:cNvPr id="37" name="Shape 35"/>
          <p:cNvSpPr/>
          <p:nvPr/>
        </p:nvSpPr>
        <p:spPr>
          <a:xfrm>
            <a:off x="8601075" y="3495675"/>
            <a:ext cx="9525" cy="34290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38" name="Text 36"/>
          <p:cNvSpPr/>
          <p:nvPr/>
        </p:nvSpPr>
        <p:spPr>
          <a:xfrm>
            <a:off x="6886575" y="3590925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7" kern="0" dirty="0">
                <a:solidFill>
                  <a:srgbClr val="293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expandable rows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1363861"/>
            <a:ext cx="44090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54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COMPOSABLE PRIMITIVES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33400" y="1630561"/>
            <a:ext cx="4027289" cy="2034778"/>
          </a:xfrm>
          <a:prstGeom prst="roundRect">
            <a:avLst>
              <a:gd name="adj" fmla="val 4681"/>
            </a:avLst>
          </a:prstGeom>
          <a:solidFill>
            <a:srgbClr val="1C2740"/>
          </a:solidFill>
          <a:ln w="9525">
            <a:solidFill>
              <a:srgbClr val="34436A"/>
            </a:solidFill>
            <a:prstDash val="solid"/>
          </a:ln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2925" y="1640086"/>
            <a:ext cx="4008239" cy="3619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2925" y="1992511"/>
            <a:ext cx="4008239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68673"/>
            <a:ext cx="95250" cy="9525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7" name="Shape 5"/>
          <p:cNvSpPr/>
          <p:nvPr/>
        </p:nvSpPr>
        <p:spPr>
          <a:xfrm>
            <a:off x="847725" y="1768673"/>
            <a:ext cx="95250" cy="95250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8" name="Shape 6"/>
          <p:cNvSpPr/>
          <p:nvPr/>
        </p:nvSpPr>
        <p:spPr>
          <a:xfrm>
            <a:off x="1009650" y="1768673"/>
            <a:ext cx="95250" cy="95250"/>
          </a:xfrm>
          <a:prstGeom prst="ellipse">
            <a:avLst/>
          </a:prstGeom>
          <a:solidFill>
            <a:srgbClr val="0AE581"/>
          </a:solidFill>
          <a:ln/>
        </p:spPr>
      </p:sp>
      <p:sp>
        <p:nvSpPr>
          <p:cNvPr id="9" name="Text 7"/>
          <p:cNvSpPr/>
          <p:nvPr/>
        </p:nvSpPr>
        <p:spPr>
          <a:xfrm>
            <a:off x="1247775" y="1744861"/>
            <a:ext cx="10623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users-table.tsx</a:t>
            </a:r>
            <a:endParaRPr lang="en-US" sz="863" dirty="0"/>
          </a:p>
        </p:txBody>
      </p:sp>
      <p:sp>
        <p:nvSpPr>
          <p:cNvPr id="10" name="Text 8"/>
          <p:cNvSpPr/>
          <p:nvPr/>
        </p:nvSpPr>
        <p:spPr>
          <a:xfrm>
            <a:off x="733425" y="2173486"/>
            <a:ext cx="3747486" cy="134897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TableHead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={cols}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onSort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={setSort}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TableBody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={rows}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TablePagination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={page}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TableActions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={sel} 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 &lt;/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4789289" y="1363861"/>
            <a:ext cx="42034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54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DATATABLE + VARIANTS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70239" y="1630561"/>
            <a:ext cx="3840361" cy="1597819"/>
          </a:xfrm>
          <a:prstGeom prst="roundRect">
            <a:avLst>
              <a:gd name="adj" fmla="val 5961"/>
            </a:avLst>
          </a:prstGeom>
          <a:solidFill>
            <a:srgbClr val="1C2740"/>
          </a:solidFill>
          <a:ln w="9525">
            <a:solidFill>
              <a:srgbClr val="34436A"/>
            </a:solidFill>
            <a:prstDash val="solid"/>
          </a:ln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9764" y="1640086"/>
            <a:ext cx="3821311" cy="3619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779764" y="1992511"/>
            <a:ext cx="3821311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922639" y="1768673"/>
            <a:ext cx="95250" cy="9525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6" name="Shape 14"/>
          <p:cNvSpPr/>
          <p:nvPr/>
        </p:nvSpPr>
        <p:spPr>
          <a:xfrm>
            <a:off x="5084564" y="1768673"/>
            <a:ext cx="95250" cy="95250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7" name="Shape 15"/>
          <p:cNvSpPr/>
          <p:nvPr/>
        </p:nvSpPr>
        <p:spPr>
          <a:xfrm>
            <a:off x="5246489" y="1768673"/>
            <a:ext cx="95250" cy="95250"/>
          </a:xfrm>
          <a:prstGeom prst="ellipse">
            <a:avLst/>
          </a:prstGeom>
          <a:solidFill>
            <a:srgbClr val="0AE5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4614" y="1744861"/>
            <a:ext cx="10623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users-table.tsx</a:t>
            </a:r>
            <a:endParaRPr lang="en-US" sz="863" dirty="0"/>
          </a:p>
        </p:txBody>
      </p:sp>
      <p:sp>
        <p:nvSpPr>
          <p:cNvPr id="19" name="Text 17"/>
          <p:cNvSpPr/>
          <p:nvPr/>
        </p:nvSpPr>
        <p:spPr>
          <a:xfrm>
            <a:off x="4970264" y="2173486"/>
            <a:ext cx="3554950" cy="91201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Datatable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={cols}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={rows} 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 &lt;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ExpandableTable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={cols}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01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={rows}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renderSubRow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={Detail} </a:t>
            </a:r>
            <a:pPr algn="l" indent="0" marL="0">
              <a:lnSpc>
                <a:spcPct val="170000"/>
              </a:lnSpc>
              <a:buNone/>
            </a:pPr>
            <a:r>
              <a:rPr lang="en-US" sz="1013" dirty="0">
                <a:solidFill>
                  <a:srgbClr val="C9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650" y="323850"/>
            <a:ext cx="24599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5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Migrating a view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33400" y="1123950"/>
            <a:ext cx="8077200" cy="3181350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650" y="323850"/>
            <a:ext cx="15722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5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3100239" y="1123950"/>
            <a:ext cx="2943523" cy="3181350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5123" y="419100"/>
            <a:ext cx="589806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825" dirty="0"/>
          </a:p>
        </p:txBody>
      </p:sp>
      <p:sp>
        <p:nvSpPr>
          <p:cNvPr id="3" name="Shape 1"/>
          <p:cNvSpPr/>
          <p:nvPr/>
        </p:nvSpPr>
        <p:spPr>
          <a:xfrm>
            <a:off x="2762250" y="647700"/>
            <a:ext cx="36195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33350" dist="38100" dir="5400000">
              <a:srgbClr val="293657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981325" y="804863"/>
            <a:ext cx="319563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stacks page to react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5981700" y="752475"/>
            <a:ext cx="285750" cy="285750"/>
          </a:xfrm>
          <a:prstGeom prst="ellipse">
            <a:avLst/>
          </a:prstGeom>
          <a:solidFill>
            <a:srgbClr val="0AE58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7524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4562475" y="1104900"/>
            <a:ext cx="19050" cy="22860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1428750"/>
            <a:ext cx="8077200" cy="3333750"/>
          </a:xfrm>
          <a:prstGeom prst="roundRect">
            <a:avLst>
              <a:gd name="adj" fmla="val 2857"/>
            </a:avLst>
          </a:prstGeom>
          <a:solidFill>
            <a:srgbClr val="1C2740"/>
          </a:solidFill>
          <a:ln w="9525">
            <a:solidFill>
              <a:srgbClr val="34436A"/>
            </a:solidFill>
            <a:prstDash val="solid"/>
          </a:ln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2925" y="1438275"/>
            <a:ext cx="8058150" cy="3810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2925" y="1809750"/>
            <a:ext cx="80581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5325" y="1576388"/>
            <a:ext cx="95250" cy="9525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" y="1576388"/>
            <a:ext cx="95250" cy="95250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9175" y="1576388"/>
            <a:ext cx="95250" cy="95250"/>
          </a:xfrm>
          <a:prstGeom prst="ellipse">
            <a:avLst/>
          </a:prstGeom>
          <a:solidFill>
            <a:srgbClr val="0AE581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1547813"/>
            <a:ext cx="34708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6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refactor(stacks): migrate create view to react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25084" y="1543050"/>
            <a:ext cx="7850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" kern="0" dirty="0">
                <a:solidFill>
                  <a:srgbClr val="E5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 files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7448252" y="1543050"/>
            <a:ext cx="6078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" kern="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+2,935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094166" y="1543050"/>
            <a:ext cx="4307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" kern="0" dirty="0">
                <a:solidFill>
                  <a:srgbClr val="F25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−714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714375" y="196215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4875" y="1985963"/>
            <a:ext cx="5554861" cy="66675"/>
          </a:xfrm>
          <a:prstGeom prst="roundRect">
            <a:avLst>
              <a:gd name="adj" fmla="val 28571"/>
            </a:avLst>
          </a:prstGeom>
          <a:solidFill>
            <a:srgbClr val="0AE581">
              <a:alpha val="2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14375" y="213360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4875" y="2157413"/>
            <a:ext cx="4474815" cy="66675"/>
          </a:xfrm>
          <a:prstGeom prst="roundRect">
            <a:avLst>
              <a:gd name="adj" fmla="val 28571"/>
            </a:avLst>
          </a:prstGeom>
          <a:solidFill>
            <a:srgbClr val="0AE581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14375" y="230505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25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04875" y="2328863"/>
            <a:ext cx="3163193" cy="66675"/>
          </a:xfrm>
          <a:prstGeom prst="roundRect">
            <a:avLst>
              <a:gd name="adj" fmla="val 28571"/>
            </a:avLst>
          </a:prstGeom>
          <a:solidFill>
            <a:srgbClr val="F2545B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14375" y="247650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4875" y="2500313"/>
            <a:ext cx="6557963" cy="66675"/>
          </a:xfrm>
          <a:prstGeom prst="roundRect">
            <a:avLst>
              <a:gd name="adj" fmla="val 28571"/>
            </a:avLst>
          </a:prstGeom>
          <a:solidFill>
            <a:srgbClr val="0AE581">
              <a:alpha val="2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14375" y="264795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04875" y="2671763"/>
            <a:ext cx="5092005" cy="66675"/>
          </a:xfrm>
          <a:prstGeom prst="roundRect">
            <a:avLst>
              <a:gd name="adj" fmla="val 28571"/>
            </a:avLst>
          </a:prstGeom>
          <a:solidFill>
            <a:srgbClr val="0AE581">
              <a:alpha val="2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14375" y="281940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4875" y="2843213"/>
            <a:ext cx="3934718" cy="66675"/>
          </a:xfrm>
          <a:prstGeom prst="roundRect">
            <a:avLst>
              <a:gd name="adj" fmla="val 28571"/>
            </a:avLst>
          </a:prstGeom>
          <a:solidFill>
            <a:srgbClr val="0AE581">
              <a:alpha val="2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14375" y="299085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25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04875" y="3014663"/>
            <a:ext cx="2623096" cy="66675"/>
          </a:xfrm>
          <a:prstGeom prst="roundRect">
            <a:avLst>
              <a:gd name="adj" fmla="val 28571"/>
            </a:avLst>
          </a:prstGeom>
          <a:solidFill>
            <a:srgbClr val="F2545B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14375" y="316230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04875" y="3186113"/>
            <a:ext cx="6017865" cy="66675"/>
          </a:xfrm>
          <a:prstGeom prst="roundRect">
            <a:avLst>
              <a:gd name="adj" fmla="val 28571"/>
            </a:avLst>
          </a:prstGeom>
          <a:solidFill>
            <a:srgbClr val="0AE581">
              <a:alpha val="2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14375" y="333375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04875" y="3357563"/>
            <a:ext cx="4860578" cy="66675"/>
          </a:xfrm>
          <a:prstGeom prst="roundRect">
            <a:avLst>
              <a:gd name="adj" fmla="val 28571"/>
            </a:avLst>
          </a:prstGeom>
          <a:solidFill>
            <a:srgbClr val="0AE581">
              <a:alpha val="2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14375" y="350520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4875" y="3529013"/>
            <a:ext cx="6866483" cy="66675"/>
          </a:xfrm>
          <a:prstGeom prst="roundRect">
            <a:avLst>
              <a:gd name="adj" fmla="val 28571"/>
            </a:avLst>
          </a:prstGeom>
          <a:solidFill>
            <a:srgbClr val="0AE581">
              <a:alpha val="2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14375" y="367665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25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04875" y="3700463"/>
            <a:ext cx="3626048" cy="66675"/>
          </a:xfrm>
          <a:prstGeom prst="roundRect">
            <a:avLst>
              <a:gd name="adj" fmla="val 28571"/>
            </a:avLst>
          </a:prstGeom>
          <a:solidFill>
            <a:srgbClr val="F2545B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14375" y="384810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04875" y="3871913"/>
            <a:ext cx="4320480" cy="66675"/>
          </a:xfrm>
          <a:prstGeom prst="roundRect">
            <a:avLst>
              <a:gd name="adj" fmla="val 28571"/>
            </a:avLst>
          </a:prstGeom>
          <a:solidFill>
            <a:srgbClr val="0AE581">
              <a:alpha val="2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14375" y="401955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04875" y="4043363"/>
            <a:ext cx="5400675" cy="66675"/>
          </a:xfrm>
          <a:prstGeom prst="roundRect">
            <a:avLst>
              <a:gd name="adj" fmla="val 28571"/>
            </a:avLst>
          </a:prstGeom>
          <a:solidFill>
            <a:srgbClr val="0AE581">
              <a:alpha val="2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14375" y="4191000"/>
            <a:ext cx="1619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E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04875" y="4214813"/>
            <a:ext cx="4706243" cy="66675"/>
          </a:xfrm>
          <a:prstGeom prst="roundRect">
            <a:avLst>
              <a:gd name="adj" fmla="val 28571"/>
            </a:avLst>
          </a:prstGeom>
          <a:solidFill>
            <a:srgbClr val="0AE581">
              <a:alpha val="2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2925" y="3952875"/>
            <a:ext cx="8058150" cy="800100"/>
          </a:xfrm>
          <a:prstGeom prst="rect">
            <a:avLst/>
          </a:prstGeom>
          <a:gradFill rotWithShape="1">
            <a:gsLst>
              <a:gs pos="0">
                <a:srgbClr val="1C2740">
                  <a:alpha val="0"/>
                </a:srgbClr>
              </a:gs>
              <a:gs pos="78000">
                <a:srgbClr val="1C2740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7" name="Text 45"/>
          <p:cNvSpPr/>
          <p:nvPr/>
        </p:nvSpPr>
        <p:spPr>
          <a:xfrm>
            <a:off x="2553295" y="4495800"/>
            <a:ext cx="4440987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60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message in → 74 files changed, +2,935 −714 — one PR</a:t>
            </a:r>
            <a:endParaRPr lang="en-US" sz="86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936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8138" y="1702296"/>
            <a:ext cx="2747724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50" b="1" spc="-10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done.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4006453" y="2326332"/>
            <a:ext cx="1130945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50" b="1" spc="-103" kern="0" dirty="0">
                <a:solidFill>
                  <a:srgbClr val="0AE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Bugs.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3738228" y="2950369"/>
            <a:ext cx="1667396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50" b="1" spc="-103" kern="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Paused.</a:t>
            </a:r>
            <a:endParaRPr lang="en-US" sz="3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1564184"/>
            <a:ext cx="6592824" cy="1395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spc="-99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AI </a:t>
            </a:r>
            <a:pPr algn="l" indent="0" marL="0">
              <a:lnSpc>
                <a:spcPct val="108000"/>
              </a:lnSpc>
              <a:buNone/>
            </a:pPr>
            <a:r>
              <a:rPr lang="en-US" sz="3300" b="1" spc="-99" kern="0" dirty="0">
                <a:solidFill>
                  <a:srgbClr val="05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emphasized the fundamentals </a:t>
            </a:r>
            <a:pPr algn="l" indent="0" marL="0">
              <a:lnSpc>
                <a:spcPct val="108000"/>
              </a:lnSpc>
              <a:buNone/>
            </a:pPr>
            <a:r>
              <a:rPr lang="en-US" sz="3300" b="1" spc="-99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it didn't replace them.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936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65" y="1318766"/>
            <a:ext cx="6766471" cy="2505968"/>
          </a:xfrm>
          <a:prstGeom prst="roundRect">
            <a:avLst>
              <a:gd name="adj" fmla="val 5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33350" dir="5400000">
              <a:srgbClr val="293657">
                <a:alpha val="16000"/>
              </a:srgbClr>
            </a:outerShdw>
          </a:effectLst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628650"/>
            <a:ext cx="8077200" cy="1993553"/>
          </a:xfrm>
          <a:prstGeom prst="roundRect">
            <a:avLst>
              <a:gd name="adj" fmla="val 7645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4875" y="885825"/>
            <a:ext cx="806767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50" b="1" spc="-49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I'd do differently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62050" y="1374428"/>
            <a:ext cx="2860358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75" b="1" spc="-16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1162050" y="1655564"/>
            <a:ext cx="2860358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targets, not “migrate everything”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4552950" y="1374428"/>
            <a:ext cx="2860358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75" b="1" spc="-16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first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4552950" y="1655564"/>
            <a:ext cx="2860358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that pins behavior, before migrating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1162050" y="2064097"/>
            <a:ext cx="2860358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75" b="1" spc="-16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decisions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162050" y="2345234"/>
            <a:ext cx="2860358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revisit them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4552950" y="2064097"/>
            <a:ext cx="2860358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75" b="1" spc="-16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progress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4552950" y="2345234"/>
            <a:ext cx="2860358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team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828675" y="4719638"/>
            <a:ext cx="6697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293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TechGym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455075" y="4724400"/>
            <a:ext cx="2317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936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2026-06-21T07:22:34Z</dcterms:created>
  <dcterms:modified xsi:type="dcterms:W3CDTF">2026-06-21T07:22:34Z</dcterms:modified>
</cp:coreProperties>
</file>